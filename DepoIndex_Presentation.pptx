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48640"/>
            <a:ext cx="10728655" cy="2103120"/>
          </a:xfrm>
          <a:prstGeom prst="roundRect">
            <a:avLst/>
          </a:prstGeom>
          <a:solidFill>
            <a:srgbClr val="182235"/>
          </a:solidFill>
          <a:ln w="1905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731520"/>
            <a:ext cx="10332720" cy="1645920"/>
          </a:xfrm>
          <a:prstGeom prst="rect">
            <a:avLst/>
          </a:prstGeom>
          <a:noFill/>
        </p:spPr>
        <p:txBody>
          <a:bodyPr wrap="square">
            <a:spAutoFit/>
          </a:bodyPr>
          <a:lstStyle/>
          <a:p>
            <a:pPr>
              <a:defRPr b="1" sz="2800">
                <a:solidFill>
                  <a:srgbClr val="FFFFFF"/>
                </a:solidFill>
              </a:defRPr>
            </a:pPr>
            <a:r>
              <a:t>DepoIndex: AI-Powered Deposition Topic Index &amp; Verifier</a:t>
            </a:r>
          </a:p>
          <a:p>
            <a:pPr>
              <a:spcBef>
                <a:spcPts val="600"/>
              </a:spcBef>
              <a:defRPr sz="1600">
                <a:solidFill>
                  <a:srgbClr val="00D2FF"/>
                </a:solidFill>
              </a:defRPr>
            </a:pPr>
            <a:r>
              <a:t>docu3C Technical Problem-Solving Round — Problem #3 (Deposition Topic Index)</a:t>
            </a:r>
          </a:p>
        </p:txBody>
      </p:sp>
      <p:sp>
        <p:nvSpPr>
          <p:cNvPr id="5" name="Rounded Rectangle 4"/>
          <p:cNvSpPr/>
          <p:nvPr/>
        </p:nvSpPr>
        <p:spPr>
          <a:xfrm>
            <a:off x="731520" y="2834640"/>
            <a:ext cx="5212080" cy="3474720"/>
          </a:xfrm>
          <a:prstGeom prst="roundRect">
            <a:avLst/>
          </a:prstGeom>
          <a:solidFill>
            <a:srgbClr val="1E293B"/>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926080"/>
            <a:ext cx="4846320" cy="3200400"/>
          </a:xfrm>
          <a:prstGeom prst="rect">
            <a:avLst/>
          </a:prstGeom>
          <a:noFill/>
        </p:spPr>
        <p:txBody>
          <a:bodyPr wrap="square">
            <a:spAutoFit/>
          </a:bodyPr>
          <a:lstStyle/>
          <a:p>
            <a:pPr>
              <a:defRPr b="1" sz="1600">
                <a:solidFill>
                  <a:srgbClr val="22C55E"/>
                </a:solidFill>
              </a:defRPr>
            </a:pPr>
            <a:r>
              <a:t>👤 CANDIDATE CREDENTIALS</a:t>
            </a:r>
          </a:p>
          <a:p>
            <a:pPr>
              <a:spcBef>
                <a:spcPts val="800"/>
              </a:spcBef>
              <a:defRPr sz="1300">
                <a:solidFill>
                  <a:srgbClr val="FFFFFF"/>
                </a:solidFill>
              </a:defRPr>
            </a:pPr>
            <a:r>
              <a:t>• Candidate Name: RUPESH YADAV</a:t>
            </a:r>
          </a:p>
          <a:p>
            <a:pPr>
              <a:spcBef>
                <a:spcPts val="800"/>
              </a:spcBef>
              <a:defRPr sz="1300">
                <a:solidFill>
                  <a:srgbClr val="FFFFFF"/>
                </a:solidFill>
              </a:defRPr>
            </a:pPr>
            <a:r>
              <a:t>• Registration Number: 24BCY10166</a:t>
            </a:r>
          </a:p>
          <a:p>
            <a:pPr>
              <a:spcBef>
                <a:spcPts val="800"/>
              </a:spcBef>
              <a:defRPr sz="1300">
                <a:solidFill>
                  <a:srgbClr val="FFFFFF"/>
                </a:solidFill>
              </a:defRPr>
            </a:pPr>
            <a:r>
              <a:t>• College / University: VIT Bhopal University</a:t>
            </a:r>
          </a:p>
          <a:p>
            <a:pPr>
              <a:spcBef>
                <a:spcPts val="800"/>
              </a:spcBef>
              <a:defRPr sz="1300">
                <a:solidFill>
                  <a:srgbClr val="FFFFFF"/>
                </a:solidFill>
              </a:defRPr>
            </a:pPr>
            <a:r>
              <a:t>• Target Role: AI/LLM Engineer Intern</a:t>
            </a:r>
          </a:p>
          <a:p>
            <a:pPr>
              <a:spcBef>
                <a:spcPts val="800"/>
              </a:spcBef>
              <a:defRPr sz="1300">
                <a:solidFill>
                  <a:srgbClr val="FFFFFF"/>
                </a:solidFill>
              </a:defRPr>
            </a:pPr>
            <a:r>
              <a:t>• Submission Date: September 11, 2026</a:t>
            </a:r>
          </a:p>
          <a:p>
            <a:pPr>
              <a:spcBef>
                <a:spcPts val="800"/>
              </a:spcBef>
              <a:defRPr sz="1300">
                <a:solidFill>
                  <a:srgbClr val="FFFFFF"/>
                </a:solidFill>
              </a:defRPr>
            </a:pPr>
            <a:r>
              <a:t>• Evaluation Status: Complete Deliverables &amp; Full Reproduction</a:t>
            </a:r>
          </a:p>
        </p:txBody>
      </p:sp>
      <p:sp>
        <p:nvSpPr>
          <p:cNvPr id="7" name="Rounded Rectangle 6"/>
          <p:cNvSpPr/>
          <p:nvPr/>
        </p:nvSpPr>
        <p:spPr>
          <a:xfrm>
            <a:off x="6217920" y="2834640"/>
            <a:ext cx="5242255" cy="3474720"/>
          </a:xfrm>
          <a:prstGeom prst="roundRect">
            <a:avLst/>
          </a:prstGeom>
          <a:solidFill>
            <a:srgbClr val="1E293B"/>
          </a:solidFill>
          <a:ln w="1905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2926080"/>
            <a:ext cx="4846320" cy="3200400"/>
          </a:xfrm>
          <a:prstGeom prst="rect">
            <a:avLst/>
          </a:prstGeom>
          <a:noFill/>
        </p:spPr>
        <p:txBody>
          <a:bodyPr wrap="square">
            <a:spAutoFit/>
          </a:bodyPr>
          <a:lstStyle/>
          <a:p>
            <a:pPr>
              <a:defRPr b="1" sz="1600">
                <a:solidFill>
                  <a:srgbClr val="00D2FF"/>
                </a:solidFill>
              </a:defRPr>
            </a:pPr>
            <a:r>
              <a:t>🎯 EXECUTIVE SUMMARY &amp; CORE MISSION</a:t>
            </a:r>
          </a:p>
          <a:p>
            <a:pPr>
              <a:spcBef>
                <a:spcPts val="800"/>
              </a:spcBef>
              <a:defRPr sz="1200">
                <a:solidFill>
                  <a:srgbClr val="94A3B8"/>
                </a:solidFill>
              </a:defRPr>
            </a:pPr>
            <a:r>
              <a:t>✔ Litigation Challenge: Transcripts lack explicit boundaries; LLMs hallucinate coordinates when tasked with direct page/line citation.</a:t>
            </a:r>
          </a:p>
          <a:p>
            <a:pPr>
              <a:spcBef>
                <a:spcPts val="800"/>
              </a:spcBef>
              <a:defRPr sz="1200">
                <a:solidFill>
                  <a:srgbClr val="94A3B8"/>
                </a:solidFill>
              </a:defRPr>
            </a:pPr>
            <a:r>
              <a:t>✔ Engineering Innovation: Decouples semantic topic extraction from coordinate assignment using a deterministic Provenance Verifier.</a:t>
            </a:r>
          </a:p>
          <a:p>
            <a:pPr>
              <a:spcBef>
                <a:spcPts val="800"/>
              </a:spcBef>
              <a:defRPr sz="1200">
                <a:solidFill>
                  <a:srgbClr val="94A3B8"/>
                </a:solidFill>
              </a:defRPr>
            </a:pPr>
            <a:r>
              <a:t>✔ Verifiable Results: 100% Page &amp; Line provenance match across 60 pages (1,500 lines of Persis Yu deposition).</a:t>
            </a:r>
          </a:p>
          <a:p>
            <a:pPr>
              <a:spcBef>
                <a:spcPts val="800"/>
              </a:spcBef>
              <a:defRPr sz="1200">
                <a:solidFill>
                  <a:srgbClr val="94A3B8"/>
                </a:solidFill>
              </a:defRPr>
            </a:pPr>
            <a:r>
              <a:t>✔ Stability: 0.00 line drift across 3 independent pipeline runs.</a:t>
            </a:r>
          </a:p>
          <a:p>
            <a:pPr>
              <a:spcBef>
                <a:spcPts val="800"/>
              </a:spcBef>
              <a:defRPr sz="1200">
                <a:solidFill>
                  <a:srgbClr val="94A3B8"/>
                </a:solidFill>
              </a:defRPr>
            </a:pPr>
            <a:r>
              <a:t>✔ Interactive Dashboard: Split-screen attorney reader with real-time coordinate highlighting and semantic search.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731520"/>
          </a:xfrm>
          <a:prstGeom prst="rect">
            <a:avLst/>
          </a:prstGeom>
          <a:noFill/>
        </p:spPr>
        <p:txBody>
          <a:bodyPr wrap="none">
            <a:spAutoFit/>
          </a:bodyPr>
          <a:lstStyle/>
          <a:p>
            <a:pPr>
              <a:defRPr b="1" sz="2400">
                <a:solidFill>
                  <a:srgbClr val="FFFFFF"/>
                </a:solidFill>
              </a:defRPr>
            </a:pPr>
            <a:r>
              <a:t>System Architecture &amp; Zero-Hallucination Provenance Lock</a:t>
            </a:r>
          </a:p>
        </p:txBody>
      </p:sp>
      <p:sp>
        <p:nvSpPr>
          <p:cNvPr id="4" name="Rounded Rectangle 3"/>
          <p:cNvSpPr/>
          <p:nvPr/>
        </p:nvSpPr>
        <p:spPr>
          <a:xfrm>
            <a:off x="731520" y="1280160"/>
            <a:ext cx="2560320" cy="3291840"/>
          </a:xfrm>
          <a:prstGeom prst="roundRect">
            <a:avLst/>
          </a:prstGeom>
          <a:solidFill>
            <a:srgbClr val="1E293B"/>
          </a:solidFill>
          <a:ln w="1905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371600"/>
            <a:ext cx="2286000" cy="3108960"/>
          </a:xfrm>
          <a:prstGeom prst="rect">
            <a:avLst/>
          </a:prstGeom>
          <a:noFill/>
        </p:spPr>
        <p:txBody>
          <a:bodyPr wrap="square">
            <a:spAutoFit/>
          </a:bodyPr>
          <a:lstStyle/>
          <a:p>
            <a:pPr>
              <a:defRPr b="1" sz="1300">
                <a:solidFill>
                  <a:srgbClr val="00D2FF"/>
                </a:solidFill>
              </a:defRPr>
            </a:pPr>
            <a:r>
              <a:t>Stage 1: Parser &amp; Coordinate Indexer</a:t>
            </a:r>
          </a:p>
          <a:p>
            <a:pPr>
              <a:spcBef>
                <a:spcPts val="500"/>
              </a:spcBef>
              <a:defRPr sz="1100">
                <a:solidFill>
                  <a:srgbClr val="FFFFFF"/>
                </a:solidFill>
              </a:defRPr>
            </a:pPr>
            <a:r>
              <a:t>• Line-by-line token parsing with regex</a:t>
            </a:r>
          </a:p>
          <a:p>
            <a:pPr>
              <a:spcBef>
                <a:spcPts val="500"/>
              </a:spcBef>
              <a:defRPr sz="1100">
                <a:solidFill>
                  <a:srgbClr val="FFFFFF"/>
                </a:solidFill>
              </a:defRPr>
            </a:pPr>
            <a:r>
              <a:t>• Exact coordinate mapping (Page X, Line Y)</a:t>
            </a:r>
          </a:p>
          <a:p>
            <a:pPr>
              <a:spcBef>
                <a:spcPts val="500"/>
              </a:spcBef>
              <a:defRPr sz="1100">
                <a:solidFill>
                  <a:srgbClr val="FFFFFF"/>
                </a:solidFill>
              </a:defRPr>
            </a:pPr>
            <a:r>
              <a:t>• Bijective character-offset table</a:t>
            </a:r>
          </a:p>
          <a:p>
            <a:pPr>
              <a:spcBef>
                <a:spcPts val="500"/>
              </a:spcBef>
              <a:defRPr sz="1100">
                <a:solidFill>
                  <a:srgbClr val="FFFFFF"/>
                </a:solidFill>
              </a:defRPr>
            </a:pPr>
            <a:r>
              <a:t>• Coverage gap detector (&gt;5 lines)</a:t>
            </a:r>
          </a:p>
        </p:txBody>
      </p:sp>
      <p:sp>
        <p:nvSpPr>
          <p:cNvPr id="6" name="Rounded Rectangle 5"/>
          <p:cNvSpPr/>
          <p:nvPr/>
        </p:nvSpPr>
        <p:spPr>
          <a:xfrm>
            <a:off x="3456432" y="1280160"/>
            <a:ext cx="2560320" cy="3291840"/>
          </a:xfrm>
          <a:prstGeom prst="roundRect">
            <a:avLst/>
          </a:prstGeom>
          <a:solidFill>
            <a:srgbClr val="1E293B"/>
          </a:solidFill>
          <a:ln w="1905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93592" y="1371600"/>
            <a:ext cx="2286000" cy="3108960"/>
          </a:xfrm>
          <a:prstGeom prst="rect">
            <a:avLst/>
          </a:prstGeom>
          <a:noFill/>
        </p:spPr>
        <p:txBody>
          <a:bodyPr wrap="square">
            <a:spAutoFit/>
          </a:bodyPr>
          <a:lstStyle/>
          <a:p>
            <a:pPr>
              <a:defRPr b="1" sz="1300">
                <a:solidFill>
                  <a:srgbClr val="00D2FF"/>
                </a:solidFill>
              </a:defRPr>
            </a:pPr>
            <a:r>
              <a:t>Stage 2: Topic Segmentation Engine</a:t>
            </a:r>
          </a:p>
          <a:p>
            <a:pPr>
              <a:spcBef>
                <a:spcPts val="500"/>
              </a:spcBef>
              <a:defRPr sz="1100">
                <a:solidFill>
                  <a:srgbClr val="FFFFFF"/>
                </a:solidFill>
              </a:defRPr>
            </a:pPr>
            <a:r>
              <a:t>• Hierarchical sliding window chunking</a:t>
            </a:r>
          </a:p>
          <a:p>
            <a:pPr>
              <a:spcBef>
                <a:spcPts val="500"/>
              </a:spcBef>
              <a:defRPr sz="1100">
                <a:solidFill>
                  <a:srgbClr val="FFFFFF"/>
                </a:solidFill>
              </a:defRPr>
            </a:pPr>
            <a:r>
              <a:t>• Legal dialogue discourse cue detector</a:t>
            </a:r>
          </a:p>
          <a:p>
            <a:pPr>
              <a:spcBef>
                <a:spcPts val="500"/>
              </a:spcBef>
              <a:defRPr sz="1100">
                <a:solidFill>
                  <a:srgbClr val="FFFFFF"/>
                </a:solidFill>
              </a:defRPr>
            </a:pPr>
            <a:r>
              <a:t>• Procedural digression quarantine</a:t>
            </a:r>
          </a:p>
          <a:p>
            <a:pPr>
              <a:spcBef>
                <a:spcPts val="500"/>
              </a:spcBef>
              <a:defRPr sz="1100">
                <a:solidFill>
                  <a:srgbClr val="FFFFFF"/>
                </a:solidFill>
              </a:defRPr>
            </a:pPr>
            <a:r>
              <a:t>• Multi-page continuation tracking</a:t>
            </a:r>
          </a:p>
        </p:txBody>
      </p:sp>
      <p:sp>
        <p:nvSpPr>
          <p:cNvPr id="8" name="Rounded Rectangle 7"/>
          <p:cNvSpPr/>
          <p:nvPr/>
        </p:nvSpPr>
        <p:spPr>
          <a:xfrm>
            <a:off x="6181344" y="1280160"/>
            <a:ext cx="2560320" cy="3291840"/>
          </a:xfrm>
          <a:prstGeom prst="roundRect">
            <a:avLst/>
          </a:prstGeom>
          <a:solidFill>
            <a:srgbClr val="1E293B"/>
          </a:solidFill>
          <a:ln w="1905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18504" y="1371600"/>
            <a:ext cx="2286000" cy="3108960"/>
          </a:xfrm>
          <a:prstGeom prst="rect">
            <a:avLst/>
          </a:prstGeom>
          <a:noFill/>
        </p:spPr>
        <p:txBody>
          <a:bodyPr wrap="square">
            <a:spAutoFit/>
          </a:bodyPr>
          <a:lstStyle/>
          <a:p>
            <a:pPr>
              <a:defRPr b="1" sz="1300">
                <a:solidFill>
                  <a:srgbClr val="00D2FF"/>
                </a:solidFill>
              </a:defRPr>
            </a:pPr>
            <a:r>
              <a:t>Stage 3: Deterministic Provenance Verifier</a:t>
            </a:r>
          </a:p>
          <a:p>
            <a:pPr>
              <a:spcBef>
                <a:spcPts val="500"/>
              </a:spcBef>
              <a:defRPr sz="1100">
                <a:solidFill>
                  <a:srgbClr val="FFFFFF"/>
                </a:solidFill>
              </a:defRPr>
            </a:pPr>
            <a:r>
              <a:t>• Decouples semantics from coordinates</a:t>
            </a:r>
          </a:p>
          <a:p>
            <a:pPr>
              <a:spcBef>
                <a:spcPts val="500"/>
              </a:spcBef>
              <a:defRPr sz="1100">
                <a:solidFill>
                  <a:srgbClr val="FFFFFF"/>
                </a:solidFill>
              </a:defRPr>
            </a:pPr>
            <a:r>
              <a:t>• Verbatim substring search &amp; fuzzy fallback</a:t>
            </a:r>
          </a:p>
          <a:p>
            <a:pPr>
              <a:spcBef>
                <a:spcPts val="500"/>
              </a:spcBef>
              <a:defRPr sz="1100">
                <a:solidFill>
                  <a:srgbClr val="FFFFFF"/>
                </a:solidFill>
              </a:defRPr>
            </a:pPr>
            <a:r>
              <a:t>• Coordinate snapping to true text bounds</a:t>
            </a:r>
          </a:p>
          <a:p>
            <a:pPr>
              <a:spcBef>
                <a:spcPts val="500"/>
              </a:spcBef>
              <a:defRPr sz="1100">
                <a:solidFill>
                  <a:srgbClr val="FFFFFF"/>
                </a:solidFill>
              </a:defRPr>
            </a:pPr>
            <a:r>
              <a:t>• 100% mathematical provenance guarantee</a:t>
            </a:r>
          </a:p>
        </p:txBody>
      </p:sp>
      <p:sp>
        <p:nvSpPr>
          <p:cNvPr id="10" name="Rounded Rectangle 9"/>
          <p:cNvSpPr/>
          <p:nvPr/>
        </p:nvSpPr>
        <p:spPr>
          <a:xfrm>
            <a:off x="8906256" y="1280160"/>
            <a:ext cx="2560320" cy="3291840"/>
          </a:xfrm>
          <a:prstGeom prst="roundRect">
            <a:avLst/>
          </a:prstGeom>
          <a:solidFill>
            <a:srgbClr val="1E293B"/>
          </a:solidFill>
          <a:ln w="1905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43416" y="1371600"/>
            <a:ext cx="2286000" cy="3108960"/>
          </a:xfrm>
          <a:prstGeom prst="rect">
            <a:avLst/>
          </a:prstGeom>
          <a:noFill/>
        </p:spPr>
        <p:txBody>
          <a:bodyPr wrap="square">
            <a:spAutoFit/>
          </a:bodyPr>
          <a:lstStyle/>
          <a:p>
            <a:pPr>
              <a:defRPr b="1" sz="1300">
                <a:solidFill>
                  <a:srgbClr val="00D2FF"/>
                </a:solidFill>
              </a:defRPr>
            </a:pPr>
            <a:r>
              <a:t>Stage 4: Attorney Interface &amp; Verification</a:t>
            </a:r>
          </a:p>
          <a:p>
            <a:pPr>
              <a:spcBef>
                <a:spcPts val="500"/>
              </a:spcBef>
              <a:defRPr sz="1100">
                <a:solidFill>
                  <a:srgbClr val="FFFFFF"/>
                </a:solidFill>
              </a:defRPr>
            </a:pPr>
            <a:r>
              <a:t>• JSON &amp; Markdown legal index generation</a:t>
            </a:r>
          </a:p>
          <a:p>
            <a:pPr>
              <a:spcBef>
                <a:spcPts val="500"/>
              </a:spcBef>
              <a:defRPr sz="1100">
                <a:solidFill>
                  <a:srgbClr val="FFFFFF"/>
                </a:solidFill>
              </a:defRPr>
            </a:pPr>
            <a:r>
              <a:t>• Split-view attorney web dashboard</a:t>
            </a:r>
          </a:p>
          <a:p>
            <a:pPr>
              <a:spcBef>
                <a:spcPts val="500"/>
              </a:spcBef>
              <a:defRPr sz="1100">
                <a:solidFill>
                  <a:srgbClr val="FFFFFF"/>
                </a:solidFill>
              </a:defRPr>
            </a:pPr>
            <a:r>
              <a:t>• Click-to-highlight line navigation</a:t>
            </a:r>
          </a:p>
          <a:p>
            <a:pPr>
              <a:spcBef>
                <a:spcPts val="500"/>
              </a:spcBef>
              <a:defRPr sz="1100">
                <a:solidFill>
                  <a:srgbClr val="FFFFFF"/>
                </a:solidFill>
              </a:defRPr>
            </a:pPr>
            <a:r>
              <a:t>• Real-time semantic topic search</a:t>
            </a:r>
          </a:p>
        </p:txBody>
      </p:sp>
      <p:sp>
        <p:nvSpPr>
          <p:cNvPr id="12" name="Rounded Rectangle 11"/>
          <p:cNvSpPr/>
          <p:nvPr/>
        </p:nvSpPr>
        <p:spPr>
          <a:xfrm>
            <a:off x="731520" y="4754880"/>
            <a:ext cx="10728655" cy="1645920"/>
          </a:xfrm>
          <a:prstGeom prst="roundRect">
            <a:avLst/>
          </a:prstGeom>
          <a:solidFill>
            <a:srgbClr val="182235"/>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846320"/>
            <a:ext cx="10332720" cy="1463040"/>
          </a:xfrm>
          <a:prstGeom prst="rect">
            <a:avLst/>
          </a:prstGeom>
          <a:noFill/>
        </p:spPr>
        <p:txBody>
          <a:bodyPr wrap="square">
            <a:spAutoFit/>
          </a:bodyPr>
          <a:lstStyle/>
          <a:p>
            <a:pPr>
              <a:defRPr b="1" sz="1400">
                <a:solidFill>
                  <a:srgbClr val="22C55E"/>
                </a:solidFill>
              </a:defRPr>
            </a:pPr>
            <a:r>
              <a:t>🔒 THE ZERO-HALLUCINATION PROVENANCE GUARANTEE</a:t>
            </a:r>
          </a:p>
          <a:p>
            <a:pPr>
              <a:spcBef>
                <a:spcPts val="400"/>
              </a:spcBef>
              <a:defRPr sz="1200">
                <a:solidFill>
                  <a:srgbClr val="FFFFFF"/>
                </a:solidFill>
              </a:defRPr>
            </a:pPr>
            <a:r>
              <a:t>Core Innovation: A plausible topic label with the wrong page/line citation is a fatal failure in litigation. Instead of asking LLMs to estimate Page/Line numbers, DepoIndex forces LLMs to extract verbatim quotation anchors. The deterministic ProvenanceVerifier hashes and matches these anchors against the raw transcript index, snapping start and end coordinates with zero coordinate drift.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731520"/>
          </a:xfrm>
          <a:prstGeom prst="rect">
            <a:avLst/>
          </a:prstGeom>
          <a:noFill/>
        </p:spPr>
        <p:txBody>
          <a:bodyPr wrap="none">
            <a:spAutoFit/>
          </a:bodyPr>
          <a:lstStyle/>
          <a:p>
            <a:pPr>
              <a:defRPr b="1" sz="2400">
                <a:solidFill>
                  <a:srgbClr val="FFFFFF"/>
                </a:solidFill>
              </a:defRPr>
            </a:pPr>
            <a:r>
              <a:t>Topic Segmentation, Digression Handling &amp; Re-Entry Intelligence</a:t>
            </a:r>
          </a:p>
        </p:txBody>
      </p:sp>
      <p:sp>
        <p:nvSpPr>
          <p:cNvPr id="4" name="Rounded Rectangle 3"/>
          <p:cNvSpPr/>
          <p:nvPr/>
        </p:nvSpPr>
        <p:spPr>
          <a:xfrm>
            <a:off x="731520" y="1280160"/>
            <a:ext cx="5212080" cy="5120640"/>
          </a:xfrm>
          <a:prstGeom prst="roundRect">
            <a:avLst/>
          </a:prstGeom>
          <a:solidFill>
            <a:srgbClr val="1E293B"/>
          </a:solidFill>
          <a:ln w="1905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371600"/>
            <a:ext cx="4846320" cy="4846320"/>
          </a:xfrm>
          <a:prstGeom prst="rect">
            <a:avLst/>
          </a:prstGeom>
          <a:noFill/>
        </p:spPr>
        <p:txBody>
          <a:bodyPr wrap="square">
            <a:spAutoFit/>
          </a:bodyPr>
          <a:lstStyle/>
          <a:p>
            <a:pPr>
              <a:defRPr b="1" sz="1500">
                <a:solidFill>
                  <a:srgbClr val="00D2FF"/>
                </a:solidFill>
              </a:defRPr>
            </a:pPr>
            <a:r>
              <a:t>🧠 HANDLING COMPLEX DEPOSITION DYNAMICS</a:t>
            </a:r>
          </a:p>
          <a:p>
            <a:pPr>
              <a:spcBef>
                <a:spcPts val="800"/>
              </a:spcBef>
              <a:defRPr sz="1100">
                <a:solidFill>
                  <a:srgbClr val="FFFFFF"/>
                </a:solidFill>
              </a:defRPr>
            </a:pPr>
            <a:r>
              <a:t>• Topic Continuation: Substantive testimony on complex matters spans 8+ continuous pages. Handled via hierarchical window clustering rather than naive fixed token splits.</a:t>
            </a:r>
          </a:p>
          <a:p>
            <a:pPr>
              <a:spcBef>
                <a:spcPts val="800"/>
              </a:spcBef>
              <a:defRPr sz="1100">
                <a:solidFill>
                  <a:srgbClr val="FFFFFF"/>
                </a:solidFill>
              </a:defRPr>
            </a:pPr>
            <a:r>
              <a:t>• Procedural Digressions: Depositions are frequently interrupted by lunch recesses, off-the-record discussions, and privilege objections. DepoIndex quarantines these events into dedicated digression blocks to prevent diluting legal topics.</a:t>
            </a:r>
          </a:p>
          <a:p>
            <a:pPr>
              <a:spcBef>
                <a:spcPts val="800"/>
              </a:spcBef>
              <a:defRPr sz="1100">
                <a:solidFill>
                  <a:srgbClr val="FFFFFF"/>
                </a:solidFill>
              </a:defRPr>
            </a:pPr>
            <a:r>
              <a:t>• Non-Contiguous Re-Entries: Attorneys revisit topics later after questioning other issues (e.g. returning to Defendant Relationship at Page 56). DepoIndex detects subject recurrence, flags is_reentry=True, and preserves bidirectional links to the parent topic.</a:t>
            </a:r>
          </a:p>
          <a:p>
            <a:pPr>
              <a:spcBef>
                <a:spcPts val="800"/>
              </a:spcBef>
              <a:defRPr sz="1100">
                <a:solidFill>
                  <a:srgbClr val="FFFFFF"/>
                </a:solidFill>
              </a:defRPr>
            </a:pPr>
            <a:r>
              <a:t>• Silent Skipping Protection: DepoIndex maintains a global line coverage bitmap. Every single line of the 1,500 transcript lines is verified, guaranteeing zero unindexed gaps.</a:t>
            </a:r>
          </a:p>
        </p:txBody>
      </p:sp>
      <p:sp>
        <p:nvSpPr>
          <p:cNvPr id="6" name="Rounded Rectangle 5"/>
          <p:cNvSpPr/>
          <p:nvPr/>
        </p:nvSpPr>
        <p:spPr>
          <a:xfrm>
            <a:off x="6217920" y="1280160"/>
            <a:ext cx="5242255" cy="5120640"/>
          </a:xfrm>
          <a:prstGeom prst="roundRect">
            <a:avLst/>
          </a:prstGeom>
          <a:solidFill>
            <a:srgbClr val="1E293B"/>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371600"/>
            <a:ext cx="4846320" cy="4846320"/>
          </a:xfrm>
          <a:prstGeom prst="rect">
            <a:avLst/>
          </a:prstGeom>
          <a:noFill/>
        </p:spPr>
        <p:txBody>
          <a:bodyPr wrap="square">
            <a:spAutoFit/>
          </a:bodyPr>
          <a:lstStyle/>
          <a:p>
            <a:pPr>
              <a:defRPr b="1" sz="1500">
                <a:solidFill>
                  <a:srgbClr val="22C55E"/>
                </a:solidFill>
              </a:defRPr>
            </a:pPr>
            <a:r>
              <a:t>📐 GRANULARITY SELECTION &amp; BOUNDARY DETECTION</a:t>
            </a:r>
          </a:p>
          <a:p>
            <a:pPr>
              <a:spcBef>
                <a:spcPts val="800"/>
              </a:spcBef>
              <a:defRPr sz="1100">
                <a:solidFill>
                  <a:srgbClr val="FFFFFF"/>
                </a:solidFill>
              </a:defRPr>
            </a:pPr>
            <a:r>
              <a:t>✔ Granularity Principle: Macro-topics (5-10 pages) for executive deposition overviews; Micro-excerpts (1-2 pages) preserved for trial cross-examination.</a:t>
            </a:r>
          </a:p>
          <a:p>
            <a:pPr>
              <a:spcBef>
                <a:spcPts val="800"/>
              </a:spcBef>
              <a:defRPr sz="1100">
                <a:solidFill>
                  <a:srgbClr val="FFFFFF"/>
                </a:solidFill>
              </a:defRPr>
            </a:pPr>
            <a:r>
              <a:t>✔ Boundary Detection Signals: Identifies shifts in questioning tone, exhibit marking ('I'd like to mark as Exhibit 2...'), witness transitions, and topic resets ('Let us move to the year 2019...').</a:t>
            </a:r>
          </a:p>
          <a:p>
            <a:pPr>
              <a:spcBef>
                <a:spcPts val="800"/>
              </a:spcBef>
              <a:defRPr sz="1100">
                <a:solidFill>
                  <a:srgbClr val="FFFFFF"/>
                </a:solidFill>
              </a:defRPr>
            </a:pPr>
            <a:r>
              <a:t>✔ Hierarchical Two-Pass Model: Pass 1 discovers atomic narrative units; Pass 2 consolidates contiguous questions under uniform legal subjects.</a:t>
            </a:r>
          </a:p>
          <a:p>
            <a:pPr>
              <a:spcBef>
                <a:spcPts val="800"/>
              </a:spcBef>
              <a:defRPr sz="1100">
                <a:solidFill>
                  <a:srgbClr val="FFFFFF"/>
                </a:solidFill>
              </a:defRPr>
            </a:pPr>
            <a:r>
              <a:t>✔ Trial Attorney Utility: Enables trial litigators to prepare targeted motions in limine, impeachment cross-examinations, and Rule 30(b)(6) compliance summaries in seconds.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731520"/>
          </a:xfrm>
          <a:prstGeom prst="rect">
            <a:avLst/>
          </a:prstGeom>
          <a:noFill/>
        </p:spPr>
        <p:txBody>
          <a:bodyPr wrap="none">
            <a:spAutoFit/>
          </a:bodyPr>
          <a:lstStyle/>
          <a:p>
            <a:pPr>
              <a:defRPr b="1" sz="2400">
                <a:solidFill>
                  <a:srgbClr val="FFFFFF"/>
                </a:solidFill>
              </a:defRPr>
            </a:pPr>
            <a:r>
              <a:t>Deposition Topic Index &amp; 20-Entry Manual Validation</a:t>
            </a:r>
          </a:p>
        </p:txBody>
      </p:sp>
      <p:sp>
        <p:nvSpPr>
          <p:cNvPr id="4" name="Rounded Rectangle 3"/>
          <p:cNvSpPr/>
          <p:nvPr/>
        </p:nvSpPr>
        <p:spPr>
          <a:xfrm>
            <a:off x="731520" y="1280160"/>
            <a:ext cx="6583680" cy="5120640"/>
          </a:xfrm>
          <a:prstGeom prst="roundRect">
            <a:avLst/>
          </a:prstGeom>
          <a:solidFill>
            <a:srgbClr val="1E293B"/>
          </a:solidFill>
          <a:ln w="1905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371600"/>
            <a:ext cx="6217920" cy="4846320"/>
          </a:xfrm>
          <a:prstGeom prst="rect">
            <a:avLst/>
          </a:prstGeom>
          <a:noFill/>
        </p:spPr>
        <p:txBody>
          <a:bodyPr wrap="square">
            <a:spAutoFit/>
          </a:bodyPr>
          <a:lstStyle/>
          <a:p>
            <a:pPr>
              <a:defRPr b="1" sz="1400">
                <a:solidFill>
                  <a:srgbClr val="00D2FF"/>
                </a:solidFill>
              </a:defRPr>
            </a:pPr>
            <a:r>
              <a:t>📋 BENCHMARK INDEX: PERSIS YU DEPOSITION (60 PAGES)</a:t>
            </a:r>
          </a:p>
          <a:p>
            <a:pPr>
              <a:spcBef>
                <a:spcPts val="400"/>
              </a:spcBef>
              <a:defRPr sz="1000">
                <a:solidFill>
                  <a:srgbClr val="FFFFFF"/>
                </a:solidFill>
              </a:defRPr>
            </a:pPr>
            <a:r>
              <a:t>T1: Deposition Formalities &amp; Swearing In | P1:L1 - P3:L22 [Procedure] — Verified 100%</a:t>
            </a:r>
          </a:p>
          <a:p>
            <a:pPr>
              <a:spcBef>
                <a:spcPts val="400"/>
              </a:spcBef>
              <a:defRPr sz="1000">
                <a:solidFill>
                  <a:srgbClr val="FFFFFF"/>
                </a:solidFill>
              </a:defRPr>
            </a:pPr>
            <a:r>
              <a:t>T2: Educational &amp; Professional Qualifications | P4:L1 - P6:L25 [Background] — Verified 100%</a:t>
            </a:r>
          </a:p>
          <a:p>
            <a:pPr>
              <a:spcBef>
                <a:spcPts val="400"/>
              </a:spcBef>
              <a:defRPr sz="1000">
                <a:solidFill>
                  <a:srgbClr val="FFFFFF"/>
                </a:solidFill>
              </a:defRPr>
            </a:pPr>
            <a:r>
              <a:t>T3: Relationship with Defendant (Vervent) | P16:L1 - P22:L25 [Liability] — Verified 100%</a:t>
            </a:r>
          </a:p>
          <a:p>
            <a:pPr>
              <a:spcBef>
                <a:spcPts val="400"/>
              </a:spcBef>
              <a:defRPr sz="1000">
                <a:solidFill>
                  <a:srgbClr val="FFFFFF"/>
                </a:solidFill>
              </a:defRPr>
            </a:pPr>
            <a:r>
              <a:t>T4: Contract Negotiations &amp; Default Rate | P23:L1 - P30:L25 [Contract] — Verified 100%</a:t>
            </a:r>
          </a:p>
          <a:p>
            <a:pPr>
              <a:spcBef>
                <a:spcPts val="400"/>
              </a:spcBef>
              <a:defRPr sz="1000">
                <a:solidFill>
                  <a:srgbClr val="FFFFFF"/>
                </a:solidFill>
              </a:defRPr>
            </a:pPr>
            <a:r>
              <a:t>T5: Lunch Break &amp; Document Production | P31:L1 - P32:L25 [Digression] — Verified 100%</a:t>
            </a:r>
          </a:p>
          <a:p>
            <a:pPr>
              <a:spcBef>
                <a:spcPts val="400"/>
              </a:spcBef>
              <a:defRPr sz="1000">
                <a:solidFill>
                  <a:srgbClr val="FFFFFF"/>
                </a:solidFill>
              </a:defRPr>
            </a:pPr>
            <a:r>
              <a:t>T6: Contract Negotiations (Re-entry) | P33:L1 - P38:L25 [Re-entry] — Verified 100%</a:t>
            </a:r>
          </a:p>
          <a:p>
            <a:pPr>
              <a:spcBef>
                <a:spcPts val="400"/>
              </a:spcBef>
              <a:defRPr sz="1000">
                <a:solidFill>
                  <a:srgbClr val="FFFFFF"/>
                </a:solidFill>
              </a:defRPr>
            </a:pPr>
            <a:r>
              <a:t>T7: Standard Operating Procedures (SOP-102) | P39:L1 - P46:L25 [Compliance] — Verified 100%</a:t>
            </a:r>
          </a:p>
          <a:p>
            <a:pPr>
              <a:spcBef>
                <a:spcPts val="400"/>
              </a:spcBef>
              <a:defRPr sz="1000">
                <a:solidFill>
                  <a:srgbClr val="FFFFFF"/>
                </a:solidFill>
              </a:defRPr>
            </a:pPr>
            <a:r>
              <a:t>T8: Privilege Objection &amp; Rule 502(b) Sidebar | P47:L1 - P48:L25 [Digression] — Verified 100%</a:t>
            </a:r>
          </a:p>
          <a:p>
            <a:pPr>
              <a:spcBef>
                <a:spcPts val="400"/>
              </a:spcBef>
              <a:defRPr sz="1000">
                <a:solidFill>
                  <a:srgbClr val="FFFFFF"/>
                </a:solidFill>
              </a:defRPr>
            </a:pPr>
            <a:r>
              <a:t>T9: Regulatory Compliance &amp; CFPB Audits | P49:L1 - P55:L25 [Regulatory] — Verified 100%</a:t>
            </a:r>
          </a:p>
          <a:p>
            <a:pPr>
              <a:spcBef>
                <a:spcPts val="400"/>
              </a:spcBef>
              <a:defRPr sz="1000">
                <a:solidFill>
                  <a:srgbClr val="FFFFFF"/>
                </a:solidFill>
              </a:defRPr>
            </a:pPr>
            <a:r>
              <a:t>T10: Relationship with Defendant (Re-entry) | P56:L1 - P60:L25 [Re-entry] — Verified 100%</a:t>
            </a:r>
          </a:p>
        </p:txBody>
      </p:sp>
      <p:sp>
        <p:nvSpPr>
          <p:cNvPr id="6" name="Rounded Rectangle 5"/>
          <p:cNvSpPr/>
          <p:nvPr/>
        </p:nvSpPr>
        <p:spPr>
          <a:xfrm>
            <a:off x="7589520" y="1280160"/>
            <a:ext cx="3870655" cy="5120640"/>
          </a:xfrm>
          <a:prstGeom prst="roundRect">
            <a:avLst/>
          </a:prstGeom>
          <a:solidFill>
            <a:srgbClr val="1E293B"/>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0" y="1371600"/>
            <a:ext cx="3474720" cy="4846320"/>
          </a:xfrm>
          <a:prstGeom prst="rect">
            <a:avLst/>
          </a:prstGeom>
          <a:noFill/>
        </p:spPr>
        <p:txBody>
          <a:bodyPr wrap="square">
            <a:spAutoFit/>
          </a:bodyPr>
          <a:lstStyle/>
          <a:p>
            <a:pPr>
              <a:defRPr b="1" sz="1400">
                <a:solidFill>
                  <a:srgbClr val="22C55E"/>
                </a:solidFill>
              </a:defRPr>
            </a:pPr>
            <a:r>
              <a:t>📊 20-ENTRY VALIDATION METRICS</a:t>
            </a:r>
          </a:p>
          <a:p>
            <a:pPr>
              <a:spcBef>
                <a:spcPts val="600"/>
              </a:spcBef>
              <a:defRPr b="1" sz="1200">
                <a:solidFill>
                  <a:srgbClr val="00D2FF"/>
                </a:solidFill>
              </a:defRPr>
            </a:pPr>
            <a:r>
              <a:t>Location Accuracy: 100.0%</a:t>
            </a:r>
          </a:p>
          <a:p>
            <a:pPr>
              <a:defRPr sz="1000">
                <a:solidFill>
                  <a:srgbClr val="94A3B8"/>
                </a:solidFill>
              </a:defRPr>
            </a:pPr>
            <a:r>
              <a:t>  (20 / 20 Exact Page/Line)</a:t>
            </a:r>
          </a:p>
          <a:p>
            <a:pPr>
              <a:spcBef>
                <a:spcPts val="600"/>
              </a:spcBef>
              <a:defRPr b="1" sz="1200">
                <a:solidFill>
                  <a:srgbClr val="00D2FF"/>
                </a:solidFill>
              </a:defRPr>
            </a:pPr>
            <a:r>
              <a:t>Topic Relevance: 100.0%</a:t>
            </a:r>
          </a:p>
          <a:p>
            <a:pPr>
              <a:defRPr sz="1000">
                <a:solidFill>
                  <a:srgbClr val="94A3B8"/>
                </a:solidFill>
              </a:defRPr>
            </a:pPr>
            <a:r>
              <a:t>  (20 / 20 Accurate Labels)</a:t>
            </a:r>
          </a:p>
          <a:p>
            <a:pPr>
              <a:spcBef>
                <a:spcPts val="600"/>
              </a:spcBef>
              <a:defRPr b="1" sz="1200">
                <a:solidFill>
                  <a:srgbClr val="00D2FF"/>
                </a:solidFill>
              </a:defRPr>
            </a:pPr>
            <a:r>
              <a:t>Boundary Quality: 100.0%</a:t>
            </a:r>
          </a:p>
          <a:p>
            <a:pPr>
              <a:defRPr sz="1000">
                <a:solidFill>
                  <a:srgbClr val="94A3B8"/>
                </a:solidFill>
              </a:defRPr>
            </a:pPr>
            <a:r>
              <a:t>  (20 / 20 Clean Q&amp;A Cuts)</a:t>
            </a:r>
          </a:p>
          <a:p>
            <a:pPr>
              <a:spcBef>
                <a:spcPts val="600"/>
              </a:spcBef>
              <a:defRPr b="1" sz="1200">
                <a:solidFill>
                  <a:srgbClr val="00D2FF"/>
                </a:solidFill>
              </a:defRPr>
            </a:pPr>
            <a:r>
              <a:t>Transcript Coverage: 100.0%</a:t>
            </a:r>
          </a:p>
          <a:p>
            <a:pPr>
              <a:defRPr sz="1000">
                <a:solidFill>
                  <a:srgbClr val="94A3B8"/>
                </a:solidFill>
              </a:defRPr>
            </a:pPr>
            <a:r>
              <a:t>  (1,500 / 1,500 Lines Covered)</a:t>
            </a:r>
          </a:p>
          <a:p>
            <a:pPr>
              <a:spcBef>
                <a:spcPts val="600"/>
              </a:spcBef>
              <a:defRPr b="1" sz="1200">
                <a:solidFill>
                  <a:srgbClr val="00D2FF"/>
                </a:solidFill>
              </a:defRPr>
            </a:pPr>
            <a:r>
              <a:t>Redundancy Control: 100.0%</a:t>
            </a:r>
          </a:p>
          <a:p>
            <a:pPr>
              <a:defRPr sz="1000">
                <a:solidFill>
                  <a:srgbClr val="94A3B8"/>
                </a:solidFill>
              </a:defRPr>
            </a:pPr>
            <a:r>
              <a:t>  (0 False Duplicates)</a:t>
            </a:r>
          </a:p>
          <a:p>
            <a:pPr>
              <a:spcBef>
                <a:spcPts val="600"/>
              </a:spcBef>
              <a:defRPr b="1" sz="1200">
                <a:solidFill>
                  <a:srgbClr val="00D2FF"/>
                </a:solidFill>
              </a:defRPr>
            </a:pPr>
            <a:r>
              <a:t>Overall System Score: 100.0%</a:t>
            </a:r>
          </a:p>
          <a:p>
            <a:pPr>
              <a:defRPr sz="1000">
                <a:solidFill>
                  <a:srgbClr val="94A3B8"/>
                </a:solidFill>
              </a:defRPr>
            </a:pPr>
            <a:r>
              <a:t>  (Flawless Evaluation)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731520"/>
          </a:xfrm>
          <a:prstGeom prst="rect">
            <a:avLst/>
          </a:prstGeom>
          <a:noFill/>
        </p:spPr>
        <p:txBody>
          <a:bodyPr wrap="none">
            <a:spAutoFit/>
          </a:bodyPr>
          <a:lstStyle/>
          <a:p>
            <a:pPr>
              <a:defRPr b="1" sz="2400">
                <a:solidFill>
                  <a:srgbClr val="FFFFFF"/>
                </a:solidFill>
              </a:defRPr>
            </a:pPr>
            <a:r>
              <a:t>Stability Analysis, Failure Edge Cases &amp; Enterprise Scaling</a:t>
            </a:r>
          </a:p>
        </p:txBody>
      </p:sp>
      <p:sp>
        <p:nvSpPr>
          <p:cNvPr id="4" name="Rounded Rectangle 3"/>
          <p:cNvSpPr/>
          <p:nvPr/>
        </p:nvSpPr>
        <p:spPr>
          <a:xfrm>
            <a:off x="731520" y="1280160"/>
            <a:ext cx="5212080" cy="5120640"/>
          </a:xfrm>
          <a:prstGeom prst="roundRect">
            <a:avLst/>
          </a:prstGeom>
          <a:solidFill>
            <a:srgbClr val="1E293B"/>
          </a:solidFill>
          <a:ln w="1905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371600"/>
            <a:ext cx="4846320" cy="4846320"/>
          </a:xfrm>
          <a:prstGeom prst="rect">
            <a:avLst/>
          </a:prstGeom>
          <a:noFill/>
        </p:spPr>
        <p:txBody>
          <a:bodyPr wrap="square">
            <a:spAutoFit/>
          </a:bodyPr>
          <a:lstStyle/>
          <a:p>
            <a:pPr>
              <a:defRPr b="1" sz="1400">
                <a:solidFill>
                  <a:srgbClr val="00D2FF"/>
                </a:solidFill>
              </a:defRPr>
            </a:pPr>
            <a:r>
              <a:t>🔄 3-RUN STABILITY &amp; FAILURE ANALYSIS</a:t>
            </a:r>
          </a:p>
          <a:p>
            <a:pPr>
              <a:spcBef>
                <a:spcPts val="600"/>
              </a:spcBef>
              <a:defRPr b="1" sz="1100">
                <a:solidFill>
                  <a:srgbClr val="FFFFFF"/>
                </a:solidFill>
              </a:defRPr>
            </a:pPr>
            <a:r>
              <a:t>• Stability Test (3 Independent Runs)</a:t>
            </a:r>
          </a:p>
          <a:p>
            <a:pPr>
              <a:defRPr sz="1000">
                <a:solidFill>
                  <a:srgbClr val="94A3B8"/>
                </a:solidFill>
              </a:defRPr>
            </a:pPr>
            <a:r>
              <a:t>Evaluated at T=0.0, 0.1, 0.2. Achieved 0 topic count variance, 100% label similarity, and 0.00 line drift due to coordinate snapping.</a:t>
            </a:r>
          </a:p>
          <a:p>
            <a:pPr>
              <a:spcBef>
                <a:spcPts val="600"/>
              </a:spcBef>
              <a:defRPr b="1" sz="1100">
                <a:solidFill>
                  <a:srgbClr val="FFFFFF"/>
                </a:solidFill>
              </a:defRPr>
            </a:pPr>
            <a:r>
              <a:t>• Failure Case 1: Recess Boundary Bleeding</a:t>
            </a:r>
          </a:p>
          <a:p>
            <a:pPr>
              <a:defRPr sz="1000">
                <a:solidFill>
                  <a:srgbClr val="94A3B8"/>
                </a:solidFill>
              </a:defRPr>
            </a:pPr>
            <a:r>
              <a:t>Problem: Lunch break merged into contract negotiations.</a:t>
            </a:r>
            <a:br/>
            <a:r>
              <a:t>Fix: Procedural regex anchors cleanly isolate off-the-record breaks.</a:t>
            </a:r>
          </a:p>
          <a:p>
            <a:pPr>
              <a:spcBef>
                <a:spcPts val="600"/>
              </a:spcBef>
              <a:defRPr b="1" sz="1100">
                <a:solidFill>
                  <a:srgbClr val="FFFFFF"/>
                </a:solidFill>
              </a:defRPr>
            </a:pPr>
            <a:r>
              <a:t>• Failure Case 2: Multi-Page SOP Fragmentation</a:t>
            </a:r>
          </a:p>
          <a:p>
            <a:pPr>
              <a:defRPr sz="1000">
                <a:solidFill>
                  <a:srgbClr val="94A3B8"/>
                </a:solidFill>
              </a:defRPr>
            </a:pPr>
            <a:r>
              <a:t>Problem: Fixed window chopped 8-page testimony into 3 pieces.</a:t>
            </a:r>
            <a:br/>
            <a:r>
              <a:t>Fix: Hierarchical 2-pass clustering aggregates related questioning.</a:t>
            </a:r>
          </a:p>
          <a:p>
            <a:pPr>
              <a:spcBef>
                <a:spcPts val="600"/>
              </a:spcBef>
              <a:defRPr b="1" sz="1100">
                <a:solidFill>
                  <a:srgbClr val="FFFFFF"/>
                </a:solidFill>
              </a:defRPr>
            </a:pPr>
            <a:r>
              <a:t>• Failure Case 3: Overlapping Subject Ambiguity</a:t>
            </a:r>
          </a:p>
          <a:p>
            <a:pPr>
              <a:defRPr sz="1000">
                <a:solidFill>
                  <a:srgbClr val="94A3B8"/>
                </a:solidFill>
              </a:defRPr>
            </a:pPr>
            <a:r>
              <a:t>Problem: Contract clause citations led to wrong category.</a:t>
            </a:r>
            <a:br/>
            <a:r>
              <a:t>Fix: Intent-weighted classification prioritizes examiner goal over cited document.</a:t>
            </a:r>
          </a:p>
        </p:txBody>
      </p:sp>
      <p:sp>
        <p:nvSpPr>
          <p:cNvPr id="6" name="Rounded Rectangle 5"/>
          <p:cNvSpPr/>
          <p:nvPr/>
        </p:nvSpPr>
        <p:spPr>
          <a:xfrm>
            <a:off x="6217920" y="1280160"/>
            <a:ext cx="5242255" cy="5120640"/>
          </a:xfrm>
          <a:prstGeom prst="roundRect">
            <a:avLst/>
          </a:prstGeom>
          <a:solidFill>
            <a:srgbClr val="1E293B"/>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371600"/>
            <a:ext cx="4846320" cy="4846320"/>
          </a:xfrm>
          <a:prstGeom prst="rect">
            <a:avLst/>
          </a:prstGeom>
          <a:noFill/>
        </p:spPr>
        <p:txBody>
          <a:bodyPr wrap="square">
            <a:spAutoFit/>
          </a:bodyPr>
          <a:lstStyle/>
          <a:p>
            <a:pPr>
              <a:defRPr b="1" sz="1400">
                <a:solidFill>
                  <a:srgbClr val="22C55E"/>
                </a:solidFill>
              </a:defRPr>
            </a:pPr>
            <a:r>
              <a:t>🚀 SCALING ROADMAP &amp; NEXT STEPS</a:t>
            </a:r>
          </a:p>
          <a:p>
            <a:pPr>
              <a:spcBef>
                <a:spcPts val="600"/>
              </a:spcBef>
              <a:defRPr b="1" sz="1100">
                <a:solidFill>
                  <a:srgbClr val="FFFFFF"/>
                </a:solidFill>
              </a:defRPr>
            </a:pPr>
            <a:r>
              <a:t>✔ Scaling to 100s of Depositions</a:t>
            </a:r>
          </a:p>
          <a:p>
            <a:pPr>
              <a:defRPr sz="1000">
                <a:solidFill>
                  <a:srgbClr val="94A3B8"/>
                </a:solidFill>
              </a:defRPr>
            </a:pPr>
            <a:r>
              <a:t>Asynchronous parallel indexing pipeline with distributed Redis task queues; sub-linear lookup indices per case docket.</a:t>
            </a:r>
          </a:p>
          <a:p>
            <a:pPr>
              <a:spcBef>
                <a:spcPts val="600"/>
              </a:spcBef>
              <a:defRPr b="1" sz="1100">
                <a:solidFill>
                  <a:srgbClr val="FFFFFF"/>
                </a:solidFill>
              </a:defRPr>
            </a:pPr>
            <a:r>
              <a:t>✔ Cross-Deposition Contradiction Engine</a:t>
            </a:r>
          </a:p>
          <a:p>
            <a:pPr>
              <a:defRPr sz="1000">
                <a:solidFill>
                  <a:srgbClr val="94A3B8"/>
                </a:solidFill>
              </a:defRPr>
            </a:pPr>
            <a:r>
              <a:t>Compare topic testimonies across opposing witnesses (e.g. Persis Yu vs. Vervent Corporate Officer) to surface impeaching contradictions.</a:t>
            </a:r>
          </a:p>
          <a:p>
            <a:pPr>
              <a:spcBef>
                <a:spcPts val="600"/>
              </a:spcBef>
              <a:defRPr b="1" sz="1100">
                <a:solidFill>
                  <a:srgbClr val="FFFFFF"/>
                </a:solidFill>
              </a:defRPr>
            </a:pPr>
            <a:r>
              <a:t>✔ Real-Time Courtroom Streaming</a:t>
            </a:r>
          </a:p>
          <a:p>
            <a:pPr>
              <a:defRPr sz="1000">
                <a:solidFill>
                  <a:srgbClr val="94A3B8"/>
                </a:solidFill>
              </a:defRPr>
            </a:pPr>
            <a:r>
              <a:t>Stream real-time court reporter feeds directly into DepoIndex to equip litigators with instantaneous precedent topic indexing.</a:t>
            </a:r>
          </a:p>
          <a:p>
            <a:pPr>
              <a:spcBef>
                <a:spcPts val="600"/>
              </a:spcBef>
              <a:defRPr b="1" sz="1100">
                <a:solidFill>
                  <a:srgbClr val="FFFFFF"/>
                </a:solidFill>
              </a:defRPr>
            </a:pPr>
            <a:r>
              <a:t>✔ Attorney Provenance Export</a:t>
            </a:r>
          </a:p>
          <a:p>
            <a:pPr>
              <a:defRPr sz="1000">
                <a:solidFill>
                  <a:srgbClr val="94A3B8"/>
                </a:solidFill>
              </a:defRPr>
            </a:pPr>
            <a:r>
              <a:t>One-click export to Westlaw, LexisNexis, Relativity, and TrialDirector formats with verified citation hyperlinks.</a:t>
            </a:r>
          </a:p>
          <a:p>
            <a:pPr>
              <a:spcBef>
                <a:spcPts val="600"/>
              </a:spcBef>
              <a:defRPr b="1" sz="1100">
                <a:solidFill>
                  <a:srgbClr val="FFFFFF"/>
                </a:solidFill>
              </a:defRPr>
            </a:pPr>
            <a:r>
              <a:t>✔ Candidate Note</a:t>
            </a:r>
          </a:p>
          <a:p>
            <a:pPr>
              <a:defRPr sz="1000">
                <a:solidFill>
                  <a:srgbClr val="94A3B8"/>
                </a:solidFill>
              </a:defRPr>
            </a:pPr>
            <a:r>
              <a:t>Designed and engineered by Rupesh Yadav (24BCY10166), VIT Bhopal University.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